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1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01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03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03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02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04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04" algn="l" defTabSz="4571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04A"/>
    <a:srgbClr val="FCF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9" autoAdjust="0"/>
    <p:restoredTop sz="58969"/>
  </p:normalViewPr>
  <p:slideViewPr>
    <p:cSldViewPr snapToGrid="0" snapToObjects="1">
      <p:cViewPr varScale="1">
        <p:scale>
          <a:sx n="52" d="100"/>
          <a:sy n="52" d="100"/>
        </p:scale>
        <p:origin x="2181" y="1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1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201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301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403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503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602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704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804" algn="l" defTabSz="914201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/>
              <a:t>Model Context Protocol, or MCP</a:t>
            </a:r>
            <a:r>
              <a:rPr lang="en-US" dirty="0"/>
              <a:t>, is an </a:t>
            </a:r>
            <a:r>
              <a:rPr lang="en-US" b="1" dirty="0"/>
              <a:t>open standard</a:t>
            </a:r>
            <a:r>
              <a:rPr lang="en-US" dirty="0"/>
              <a:t> developed by </a:t>
            </a:r>
            <a:r>
              <a:rPr lang="en-US" b="1" dirty="0"/>
              <a:t>Anthropic</a:t>
            </a:r>
            <a:r>
              <a:rPr lang="en-US" dirty="0"/>
              <a:t> to seamlessly integrate AI with external data, tools, and systems.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key advantage? It provides </a:t>
            </a:r>
            <a:r>
              <a:rPr lang="en-US" b="1" dirty="0"/>
              <a:t>real-time, relevant, and structured information</a:t>
            </a:r>
            <a:r>
              <a:rPr lang="en-US" dirty="0"/>
              <a:t>, crucial for effective AI deployment and improved decision-making.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MCP also prioritizes </a:t>
            </a:r>
            <a:r>
              <a:rPr lang="en-US" b="1" dirty="0"/>
              <a:t>security and privacy</a:t>
            </a:r>
            <a:r>
              <a:rPr lang="en-US" dirty="0"/>
              <a:t>, ensuring sensitive data protection, and its </a:t>
            </a:r>
            <a:r>
              <a:rPr lang="en-US" b="1" dirty="0"/>
              <a:t>modularity</a:t>
            </a:r>
            <a:r>
              <a:rPr lang="en-US" dirty="0"/>
              <a:t> allows for flexible integration across various applications.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essence, MCP is a significant leap forward in harnessing AI's full potential while tackling data integration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Think of MCP as a universal remote for AI, allowing various AI models to seamlessly interact with diverse information sources and perform a multitude of tasks.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Much like a restaurant waiter, the MCP standardizes communication, simplifying development and boosting efficiency and scalability.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Essentially, transforming complex integrations into effortless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Our system operates on a robust </a:t>
            </a:r>
            <a:r>
              <a:rPr lang="en-US" b="1" dirty="0"/>
              <a:t>client-server model</a:t>
            </a:r>
            <a:r>
              <a:rPr lang="en-US" dirty="0"/>
              <a:t>, powered by three core components.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First, the </a:t>
            </a:r>
            <a:r>
              <a:rPr lang="en-US" b="1" dirty="0"/>
              <a:t>MCP Host</a:t>
            </a:r>
            <a:r>
              <a:rPr lang="en-US" dirty="0"/>
              <a:t> initiates all connections and queries, acting as the starting point for interactions.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Next, the </a:t>
            </a:r>
            <a:r>
              <a:rPr lang="en-US" b="1" dirty="0"/>
              <a:t>MCP Client</a:t>
            </a:r>
            <a:r>
              <a:rPr lang="en-US" dirty="0"/>
              <a:t> manages secure connections, ensuring data integrity and seamless, reliable communication.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Finally, the </a:t>
            </a:r>
            <a:r>
              <a:rPr lang="en-US" b="1" dirty="0"/>
              <a:t>MCP Server</a:t>
            </a:r>
            <a:r>
              <a:rPr lang="en-US" dirty="0"/>
              <a:t> serves as the backbone, providing contextual data, tools, and APIs, responding to host queries with the information and services needed.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Together, they create a highly efficient and secure architecture, optimizing performance and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AI is revolutionizing various sectors, with </a:t>
            </a:r>
            <a:r>
              <a:rPr lang="en-US" b="1" dirty="0"/>
              <a:t>enterprise AI assistants</a:t>
            </a:r>
            <a:r>
              <a:rPr lang="en-US" dirty="0"/>
              <a:t> leading the charge.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These invaluable tools securely retrieve </a:t>
            </a:r>
            <a:r>
              <a:rPr lang="en-US" b="1" dirty="0"/>
              <a:t>company-specific information</a:t>
            </a:r>
            <a:r>
              <a:rPr lang="en-US" dirty="0"/>
              <a:t>, granting employees quick and efficient access to data like confidential financial reports or client profiles.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significantly boosts productivity and enhances decision-making across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summary, MCP’s modularity, security, and efficiency make it ideal for AI integration.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Its modular design simplifies integration, boosting overall AI application capabilities.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With a strong emphasis on </a:t>
            </a:r>
            <a:r>
              <a:rPr lang="en-US" b="1" dirty="0"/>
              <a:t>secure data handling</a:t>
            </a:r>
            <a:r>
              <a:rPr lang="en-US" dirty="0"/>
              <a:t>, MCP ensures data protection, which is crucial for trust and compliance.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Thanks to these strengths, </a:t>
            </a:r>
            <a:r>
              <a:rPr lang="en-US" dirty="0"/>
              <a:t>MCP is well-positioned to become the </a:t>
            </a:r>
            <a:r>
              <a:rPr lang="en-US" b="1" dirty="0"/>
              <a:t>industry standard for AI integrations</a:t>
            </a:r>
            <a:r>
              <a:rPr lang="en-US" dirty="0"/>
              <a:t>, defining best practices and setting new industry norms for leveraging AI efficiently and securely.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483" y="2130427"/>
            <a:ext cx="583081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970" y="3886200"/>
            <a:ext cx="480185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9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9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75" y="4406903"/>
            <a:ext cx="5830818" cy="1362075"/>
          </a:xfrm>
        </p:spPr>
        <p:txBody>
          <a:bodyPr anchor="t"/>
          <a:lstStyle>
            <a:lvl1pPr algn="l">
              <a:defRPr sz="30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875" y="2906713"/>
            <a:ext cx="5830818" cy="1500188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91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9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97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96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957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949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4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932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91" y="1600201"/>
            <a:ext cx="3029740" cy="4525964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7058" y="1600201"/>
            <a:ext cx="3029740" cy="4525964"/>
          </a:xfrm>
        </p:spPr>
        <p:txBody>
          <a:bodyPr/>
          <a:lstStyle>
            <a:lvl1pPr>
              <a:defRPr sz="2101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90" y="1535113"/>
            <a:ext cx="303093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90" y="2174876"/>
            <a:ext cx="3030930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677" y="1535113"/>
            <a:ext cx="303212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91" indent="0">
              <a:buNone/>
              <a:defRPr sz="1500" b="1"/>
            </a:lvl2pPr>
            <a:lvl3pPr marL="685983" indent="0">
              <a:buNone/>
              <a:defRPr sz="1350" b="1"/>
            </a:lvl3pPr>
            <a:lvl4pPr marL="1028974" indent="0">
              <a:buNone/>
              <a:defRPr sz="1200" b="1"/>
            </a:lvl4pPr>
            <a:lvl5pPr marL="1371966" indent="0">
              <a:buNone/>
              <a:defRPr sz="1200" b="1"/>
            </a:lvl5pPr>
            <a:lvl6pPr marL="1714957" indent="0">
              <a:buNone/>
              <a:defRPr sz="1200" b="1"/>
            </a:lvl6pPr>
            <a:lvl7pPr marL="2057949" indent="0">
              <a:buNone/>
              <a:defRPr sz="1200" b="1"/>
            </a:lvl7pPr>
            <a:lvl8pPr marL="2400940" indent="0">
              <a:buNone/>
              <a:defRPr sz="1200" b="1"/>
            </a:lvl8pPr>
            <a:lvl9pPr marL="27439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677" y="2174876"/>
            <a:ext cx="303212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91" y="273051"/>
            <a:ext cx="225682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986" y="273051"/>
            <a:ext cx="3834812" cy="5853113"/>
          </a:xfrm>
        </p:spPr>
        <p:txBody>
          <a:bodyPr/>
          <a:lstStyle>
            <a:lvl1pPr>
              <a:defRPr sz="2401"/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91" y="1435102"/>
            <a:ext cx="225682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566" y="4800600"/>
            <a:ext cx="4115873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566" y="612775"/>
            <a:ext cx="4115873" cy="4114800"/>
          </a:xfrm>
        </p:spPr>
        <p:txBody>
          <a:bodyPr/>
          <a:lstStyle>
            <a:lvl1pPr marL="0" indent="0">
              <a:buNone/>
              <a:defRPr sz="2401"/>
            </a:lvl1pPr>
            <a:lvl2pPr marL="342991" indent="0">
              <a:buNone/>
              <a:defRPr sz="2101"/>
            </a:lvl2pPr>
            <a:lvl3pPr marL="685983" indent="0">
              <a:buNone/>
              <a:defRPr sz="1800"/>
            </a:lvl3pPr>
            <a:lvl4pPr marL="1028974" indent="0">
              <a:buNone/>
              <a:defRPr sz="1500"/>
            </a:lvl4pPr>
            <a:lvl5pPr marL="1371966" indent="0">
              <a:buNone/>
              <a:defRPr sz="1500"/>
            </a:lvl5pPr>
            <a:lvl6pPr marL="1714957" indent="0">
              <a:buNone/>
              <a:defRPr sz="1500"/>
            </a:lvl6pPr>
            <a:lvl7pPr marL="2057949" indent="0">
              <a:buNone/>
              <a:defRPr sz="1500"/>
            </a:lvl7pPr>
            <a:lvl8pPr marL="2400940" indent="0">
              <a:buNone/>
              <a:defRPr sz="1500"/>
            </a:lvl8pPr>
            <a:lvl9pPr marL="27439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566" y="5367338"/>
            <a:ext cx="4115873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3346" y="274639"/>
            <a:ext cx="1543451" cy="585152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91" y="274639"/>
            <a:ext cx="4516025" cy="58515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91" y="274638"/>
            <a:ext cx="617380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91" y="1600201"/>
            <a:ext cx="6173807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90" y="6356351"/>
            <a:ext cx="160061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760" y="6356351"/>
            <a:ext cx="217226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6181" y="6356351"/>
            <a:ext cx="1600616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91" rtl="0" eaLnBrk="1" latinLnBrk="0" hangingPunct="1"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AA22CAD8-E5EA-8E6E-7655-F7833B15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7515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-1"/>
            <a:ext cx="9144095" cy="71845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2A94197-EBD6-B878-EA1C-476244F4BD77}"/>
              </a:ext>
            </a:extLst>
          </p:cNvPr>
          <p:cNvGrpSpPr/>
          <p:nvPr/>
        </p:nvGrpSpPr>
        <p:grpSpPr>
          <a:xfrm>
            <a:off x="-223838" y="-4073179"/>
            <a:ext cx="9591676" cy="11144250"/>
            <a:chOff x="-3190876" y="-4133850"/>
            <a:chExt cx="9591676" cy="111442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1D53725-88DB-0A65-E05B-E34EBA961949}"/>
                </a:ext>
              </a:extLst>
            </p:cNvPr>
            <p:cNvSpPr/>
            <p:nvPr/>
          </p:nvSpPr>
          <p:spPr>
            <a:xfrm>
              <a:off x="-3190875" y="1438275"/>
              <a:ext cx="9591675" cy="5572125"/>
            </a:xfrm>
            <a:prstGeom prst="rect">
              <a:avLst/>
            </a:prstGeom>
            <a:solidFill>
              <a:srgbClr val="FCFAF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462F292-D67B-061A-6907-C44ECD50325B}"/>
                </a:ext>
              </a:extLst>
            </p:cNvPr>
            <p:cNvSpPr/>
            <p:nvPr/>
          </p:nvSpPr>
          <p:spPr>
            <a:xfrm>
              <a:off x="-3190876" y="-4133850"/>
              <a:ext cx="9591675" cy="5572125"/>
            </a:xfrm>
            <a:prstGeom prst="rect">
              <a:avLst/>
            </a:prstGeom>
            <a:solidFill>
              <a:srgbClr val="19304A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l="5110" t="6377" r="5303"/>
          <a:stretch>
            <a:fillRect/>
          </a:stretch>
        </p:blipFill>
        <p:spPr>
          <a:xfrm>
            <a:off x="624113" y="0"/>
            <a:ext cx="7953829" cy="701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91440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380</Words>
  <Application>Microsoft Office PowerPoint</Application>
  <PresentationFormat>On-screen Show (4:3)</PresentationFormat>
  <Paragraphs>19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Ngiam Ying Hui</cp:lastModifiedBy>
  <cp:revision>27</cp:revision>
  <dcterms:created xsi:type="dcterms:W3CDTF">2013-01-27T09:14:16Z</dcterms:created>
  <dcterms:modified xsi:type="dcterms:W3CDTF">2025-07-25T09:34:04Z</dcterms:modified>
  <cp:category/>
</cp:coreProperties>
</file>